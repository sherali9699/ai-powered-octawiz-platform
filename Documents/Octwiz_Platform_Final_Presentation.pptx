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legreya Sans SC Bold" charset="1" panose="00000800000000000000"/>
      <p:regular r:id="rId16"/>
    </p:embeddedFont>
    <p:embeddedFont>
      <p:font typeface="Alegreya Sans SC" charset="1" panose="00000500000000000000"/>
      <p:regular r:id="rId17"/>
    </p:embeddedFont>
    <p:embeddedFont>
      <p:font typeface="Fira Sans" charset="1" panose="020B0503050000020004"/>
      <p:regular r:id="rId18"/>
    </p:embeddedFont>
    <p:embeddedFont>
      <p:font typeface="Fira Sans Bold" charset="1" panose="020B080305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4921589" y="3557484"/>
            <a:ext cx="13366411" cy="3043429"/>
          </a:xfrm>
          <a:custGeom>
            <a:avLst/>
            <a:gdLst/>
            <a:ahLst/>
            <a:cxnLst/>
            <a:rect r="r" b="b" t="t" l="l"/>
            <a:pathLst>
              <a:path h="3043429" w="13366411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780228" y="-659099"/>
            <a:ext cx="11605199" cy="11605199"/>
          </a:xfrm>
          <a:custGeom>
            <a:avLst/>
            <a:gdLst/>
            <a:ahLst/>
            <a:cxnLst/>
            <a:rect r="r" b="b" t="t" l="l"/>
            <a:pathLst>
              <a:path h="11605199" w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187961"/>
            <a:ext cx="16230600" cy="688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3"/>
              </a:lnSpc>
            </a:pPr>
            <a:r>
              <a:rPr lang="en-US" b="true" sz="7686" spc="2059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Octowize: AI-Powered Business Onboarding for UAE</a:t>
            </a:r>
          </a:p>
          <a:p>
            <a:pPr algn="ctr">
              <a:lnSpc>
                <a:spcPts val="7763"/>
              </a:lnSpc>
            </a:pPr>
          </a:p>
          <a:p>
            <a:pPr algn="ctr">
              <a:lnSpc>
                <a:spcPts val="7763"/>
              </a:lnSpc>
            </a:pPr>
          </a:p>
          <a:p>
            <a:pPr algn="ctr">
              <a:lnSpc>
                <a:spcPts val="7056"/>
              </a:lnSpc>
            </a:pPr>
            <a:r>
              <a:rPr lang="en-US" sz="6986" spc="1872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HU x Asf Tech Partners</a:t>
            </a:r>
          </a:p>
          <a:p>
            <a:pPr algn="ctr">
              <a:lnSpc>
                <a:spcPts val="705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080307" y="-1732119"/>
            <a:ext cx="8415386" cy="8415386"/>
          </a:xfrm>
          <a:custGeom>
            <a:avLst/>
            <a:gdLst/>
            <a:ahLst/>
            <a:cxnLst/>
            <a:rect r="r" b="b" t="t" l="l"/>
            <a:pathLst>
              <a:path h="8415386" w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39935" y="4302704"/>
            <a:ext cx="12808130" cy="238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7"/>
              </a:lnSpc>
            </a:pPr>
            <a:r>
              <a:rPr lang="en-US" sz="4527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Hussain Umer Farooqui</a:t>
            </a:r>
          </a:p>
          <a:p>
            <a:pPr algn="ctr">
              <a:lnSpc>
                <a:spcPts val="6337"/>
              </a:lnSpc>
            </a:pPr>
            <a:r>
              <a:rPr lang="en-US" sz="4527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Sher Ali Khan</a:t>
            </a:r>
          </a:p>
          <a:p>
            <a:pPr algn="ctr">
              <a:lnSpc>
                <a:spcPts val="6337"/>
              </a:lnSpc>
              <a:spcBef>
                <a:spcPct val="0"/>
              </a:spcBef>
            </a:pPr>
            <a:r>
              <a:rPr lang="en-US" sz="4527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 Wasiq Shaikh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-10800000">
            <a:off x="853604" y="472515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0" y="0"/>
                </a:moveTo>
                <a:lnTo>
                  <a:pt x="2952453" y="0"/>
                </a:lnTo>
                <a:lnTo>
                  <a:pt x="2952453" y="3878931"/>
                </a:lnTo>
                <a:lnTo>
                  <a:pt x="0" y="3878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4609329" y="3260610"/>
            <a:ext cx="8415386" cy="8415386"/>
          </a:xfrm>
          <a:custGeom>
            <a:avLst/>
            <a:gdLst/>
            <a:ahLst/>
            <a:cxnLst/>
            <a:rect r="r" b="b" t="t" l="l"/>
            <a:pathLst>
              <a:path h="8415386" w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0" y="-59259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2952452" y="3878931"/>
                </a:moveTo>
                <a:lnTo>
                  <a:pt x="0" y="3878931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481943" y="5876296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0" y="0"/>
                </a:moveTo>
                <a:lnTo>
                  <a:pt x="2952453" y="0"/>
                </a:lnTo>
                <a:lnTo>
                  <a:pt x="2952453" y="3878930"/>
                </a:lnTo>
                <a:lnTo>
                  <a:pt x="0" y="3878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15335548" y="6408070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2952452" y="3878930"/>
                </a:moveTo>
                <a:lnTo>
                  <a:pt x="0" y="3878930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84487" y="2189824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392" y="1346110"/>
            <a:ext cx="18288000" cy="7912190"/>
            <a:chOff x="0" y="0"/>
            <a:chExt cx="24384000" cy="105495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6379315" y="-285750"/>
              <a:ext cx="11625369" cy="1776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296"/>
                </a:lnSpc>
                <a:spcBef>
                  <a:spcPct val="0"/>
                </a:spcBef>
              </a:pPr>
              <a:r>
                <a:rPr lang="en-US" b="true" sz="7354">
                  <a:solidFill>
                    <a:srgbClr val="D7FDFF"/>
                  </a:solidFill>
                  <a:latin typeface="Alegreya Sans SC Bold"/>
                  <a:ea typeface="Alegreya Sans SC Bold"/>
                  <a:cs typeface="Alegreya Sans SC Bold"/>
                  <a:sym typeface="Alegreya Sans SC Bold"/>
                </a:rPr>
                <a:t>Introduction</a:t>
              </a:r>
            </a:p>
          </p:txBody>
        </p:sp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4193661"/>
              <a:ext cx="24384000" cy="5552049"/>
            </a:xfrm>
            <a:custGeom>
              <a:avLst/>
              <a:gdLst/>
              <a:ahLst/>
              <a:cxnLst/>
              <a:rect r="r" b="b" t="t" l="l"/>
              <a:pathLst>
                <a:path h="555204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2049"/>
                  </a:lnTo>
                  <a:lnTo>
                    <a:pt x="0" y="555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653247" y="1835694"/>
              <a:ext cx="17077506" cy="8713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80"/>
                </a:lnSpc>
                <a:spcBef>
                  <a:spcPct val="0"/>
                </a:spcBef>
              </a:pPr>
              <a:r>
                <a:rPr lang="en-US" sz="3700">
                  <a:solidFill>
                    <a:srgbClr val="D7FDFF"/>
                  </a:solidFill>
                  <a:latin typeface="Fira Sans"/>
                  <a:ea typeface="Fira Sans"/>
                  <a:cs typeface="Fira Sans"/>
                  <a:sym typeface="Fira Sans"/>
                </a:rPr>
                <a:t>A streamlined platform for entrepreneurs to launch UAE businesses—with intelligent assistance.</a:t>
              </a:r>
            </a:p>
            <a:p>
              <a:pPr algn="just">
                <a:lnSpc>
                  <a:spcPts val="5180"/>
                </a:lnSpc>
                <a:spcBef>
                  <a:spcPct val="0"/>
                </a:spcBef>
              </a:pPr>
              <a:r>
                <a:rPr lang="en-US" sz="3700">
                  <a:solidFill>
                    <a:srgbClr val="D7FDFF"/>
                  </a:solidFill>
                  <a:latin typeface="Fira Sans"/>
                  <a:ea typeface="Fira Sans"/>
                  <a:cs typeface="Fira Sans"/>
                  <a:sym typeface="Fira Sans"/>
                </a:rPr>
                <a:t>UAE offers many company setup options—Free Zone, Mainland, Offshore</a:t>
              </a:r>
            </a:p>
            <a:p>
              <a:pPr algn="l" marL="1597665" indent="-532555" lvl="2">
                <a:lnSpc>
                  <a:spcPts val="518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700">
                  <a:solidFill>
                    <a:srgbClr val="D7FDFF"/>
                  </a:solidFill>
                  <a:latin typeface="Fira Sans"/>
                  <a:ea typeface="Fira Sans"/>
                  <a:cs typeface="Fira Sans"/>
                  <a:sym typeface="Fira Sans"/>
                </a:rPr>
                <a:t>Entrepreneurs often face:</a:t>
              </a:r>
            </a:p>
            <a:p>
              <a:pPr algn="l" marL="2396498" indent="-599125" lvl="3">
                <a:lnSpc>
                  <a:spcPts val="5180"/>
                </a:lnSpc>
                <a:spcBef>
                  <a:spcPct val="0"/>
                </a:spcBef>
                <a:buFont typeface="Arial"/>
                <a:buChar char="￭"/>
              </a:pPr>
              <a:r>
                <a:rPr lang="en-US" sz="3700">
                  <a:solidFill>
                    <a:srgbClr val="D7FDFF"/>
                  </a:solidFill>
                  <a:latin typeface="Fira Sans"/>
                  <a:ea typeface="Fira Sans"/>
                  <a:cs typeface="Fira Sans"/>
                  <a:sym typeface="Fira Sans"/>
                </a:rPr>
                <a:t>Legal and regulatory confusion</a:t>
              </a:r>
            </a:p>
            <a:p>
              <a:pPr algn="l" marL="2396498" indent="-599125" lvl="3">
                <a:lnSpc>
                  <a:spcPts val="5180"/>
                </a:lnSpc>
                <a:spcBef>
                  <a:spcPct val="0"/>
                </a:spcBef>
                <a:buFont typeface="Arial"/>
                <a:buChar char="￭"/>
              </a:pPr>
              <a:r>
                <a:rPr lang="en-US" sz="3700">
                  <a:solidFill>
                    <a:srgbClr val="D7FDFF"/>
                  </a:solidFill>
                  <a:latin typeface="Fira Sans"/>
                  <a:ea typeface="Fira Sans"/>
                  <a:cs typeface="Fira Sans"/>
                  <a:sym typeface="Fira Sans"/>
                </a:rPr>
                <a:t>Time-consuming paperwork</a:t>
              </a:r>
            </a:p>
            <a:p>
              <a:pPr algn="l" marL="2396498" indent="-599125" lvl="3">
                <a:lnSpc>
                  <a:spcPts val="5180"/>
                </a:lnSpc>
                <a:spcBef>
                  <a:spcPct val="0"/>
                </a:spcBef>
                <a:buFont typeface="Arial"/>
                <a:buChar char="￭"/>
              </a:pPr>
              <a:r>
                <a:rPr lang="en-US" sz="3700">
                  <a:solidFill>
                    <a:srgbClr val="D7FDFF"/>
                  </a:solidFill>
                  <a:latin typeface="Fira Sans"/>
                  <a:ea typeface="Fira Sans"/>
                  <a:cs typeface="Fira Sans"/>
                  <a:sym typeface="Fira Sans"/>
                </a:rPr>
                <a:t>Lack of localized guidance</a:t>
              </a:r>
            </a:p>
            <a:p>
              <a:pPr algn="l" marL="1597665" indent="-532555" lvl="2">
                <a:lnSpc>
                  <a:spcPts val="518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700">
                  <a:solidFill>
                    <a:srgbClr val="D7FDFF"/>
                  </a:solidFill>
                  <a:latin typeface="Fira Sans"/>
                  <a:ea typeface="Fira Sans"/>
                  <a:cs typeface="Fira Sans"/>
                  <a:sym typeface="Fira Sans"/>
                </a:rPr>
                <a:t>Traditional consultants are expensive and manual</a:t>
              </a:r>
            </a:p>
            <a:p>
              <a:pPr algn="l">
                <a:lnSpc>
                  <a:spcPts val="5180"/>
                </a:lnSpc>
                <a:spcBef>
                  <a:spcPct val="0"/>
                </a:spcBef>
              </a:pPr>
            </a:p>
          </p:txBody>
        </p:sp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true" flipV="true" rot="-10800000">
              <a:off x="1448744" y="5748642"/>
              <a:ext cx="2909389" cy="3822354"/>
            </a:xfrm>
            <a:custGeom>
              <a:avLst/>
              <a:gdLst/>
              <a:ahLst/>
              <a:cxnLst/>
              <a:rect r="r" b="b" t="t" l="l"/>
              <a:pathLst>
                <a:path h="3822354" w="2909389">
                  <a:moveTo>
                    <a:pt x="2909389" y="3822354"/>
                  </a:moveTo>
                  <a:lnTo>
                    <a:pt x="0" y="3822354"/>
                  </a:lnTo>
                  <a:lnTo>
                    <a:pt x="0" y="0"/>
                  </a:lnTo>
                  <a:lnTo>
                    <a:pt x="2909389" y="0"/>
                  </a:lnTo>
                  <a:lnTo>
                    <a:pt x="2909389" y="3822354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true" flipV="true" rot="0">
              <a:off x="318883" y="4193661"/>
              <a:ext cx="2909389" cy="3822354"/>
            </a:xfrm>
            <a:custGeom>
              <a:avLst/>
              <a:gdLst/>
              <a:ahLst/>
              <a:cxnLst/>
              <a:rect r="r" b="b" t="t" l="l"/>
              <a:pathLst>
                <a:path h="3822354" w="2909389">
                  <a:moveTo>
                    <a:pt x="2909389" y="3822354"/>
                  </a:moveTo>
                  <a:lnTo>
                    <a:pt x="0" y="3822354"/>
                  </a:lnTo>
                  <a:lnTo>
                    <a:pt x="0" y="0"/>
                  </a:lnTo>
                  <a:lnTo>
                    <a:pt x="2909389" y="0"/>
                  </a:lnTo>
                  <a:lnTo>
                    <a:pt x="2909389" y="3822354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15390121" y="1822870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14542725" y="656634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511640" y="3582539"/>
            <a:ext cx="316295" cy="316295"/>
          </a:xfrm>
          <a:custGeom>
            <a:avLst/>
            <a:gdLst/>
            <a:ahLst/>
            <a:cxnLst/>
            <a:rect r="r" b="b" t="t" l="l"/>
            <a:pathLst>
              <a:path h="316295" w="316295">
                <a:moveTo>
                  <a:pt x="0" y="0"/>
                </a:moveTo>
                <a:lnTo>
                  <a:pt x="316295" y="0"/>
                </a:lnTo>
                <a:lnTo>
                  <a:pt x="316295" y="316295"/>
                </a:lnTo>
                <a:lnTo>
                  <a:pt x="0" y="316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86510" y="4258602"/>
            <a:ext cx="16230600" cy="395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66"/>
              </a:lnSpc>
            </a:pPr>
            <a:r>
              <a:rPr lang="en-US" sz="3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An intelligent onboarding platform that:</a:t>
            </a:r>
          </a:p>
          <a:p>
            <a:pPr algn="just" marL="843050" indent="-421525" lvl="1">
              <a:lnSpc>
                <a:spcPts val="5466"/>
              </a:lnSpc>
              <a:buFont typeface="Arial"/>
              <a:buChar char="•"/>
            </a:pPr>
            <a:r>
              <a:rPr lang="en-US" sz="3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Guides users step-by-step to set up a business in the UAE</a:t>
            </a:r>
          </a:p>
          <a:p>
            <a:pPr algn="just" marL="843050" indent="-421525" lvl="1">
              <a:lnSpc>
                <a:spcPts val="5466"/>
              </a:lnSpc>
              <a:buFont typeface="Arial"/>
              <a:buChar char="•"/>
            </a:pPr>
            <a:r>
              <a:rPr lang="en-US" sz="3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Provides personalized zone and activity recommendations</a:t>
            </a:r>
          </a:p>
          <a:p>
            <a:pPr algn="just" marL="843050" indent="-421525" lvl="1">
              <a:lnSpc>
                <a:spcPts val="5466"/>
              </a:lnSpc>
              <a:buFont typeface="Arial"/>
              <a:buChar char="•"/>
            </a:pPr>
            <a:r>
              <a:rPr lang="en-US" sz="3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Features an AI chatbot for 24/7 legal + onboarding support</a:t>
            </a:r>
          </a:p>
          <a:p>
            <a:pPr algn="just" marL="843050" indent="-421525" lvl="1">
              <a:lnSpc>
                <a:spcPts val="5466"/>
              </a:lnSpc>
              <a:buFont typeface="Arial"/>
              <a:buChar char="•"/>
            </a:pPr>
            <a:r>
              <a:rPr lang="en-US" sz="3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Stores data securely using Supabase backend</a:t>
            </a:r>
          </a:p>
          <a:p>
            <a:pPr algn="just">
              <a:lnSpc>
                <a:spcPts val="4346"/>
              </a:lnSpc>
              <a:spcBef>
                <a:spcPct val="0"/>
              </a:spcBef>
            </a:pPr>
          </a:p>
        </p:txBody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3187460" y="3562656"/>
            <a:ext cx="6258128" cy="6258128"/>
          </a:xfrm>
          <a:custGeom>
            <a:avLst/>
            <a:gdLst/>
            <a:ahLst/>
            <a:cxnLst/>
            <a:rect r="r" b="b" t="t" l="l"/>
            <a:pathLst>
              <a:path h="6258128" w="6258128">
                <a:moveTo>
                  <a:pt x="0" y="0"/>
                </a:moveTo>
                <a:lnTo>
                  <a:pt x="6258128" y="0"/>
                </a:lnTo>
                <a:lnTo>
                  <a:pt x="6258128" y="6258127"/>
                </a:lnTo>
                <a:lnTo>
                  <a:pt x="0" y="6258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58396" y="0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3772662" y="0"/>
                </a:moveTo>
                <a:lnTo>
                  <a:pt x="0" y="0"/>
                </a:lnTo>
                <a:lnTo>
                  <a:pt x="0" y="4956521"/>
                </a:lnTo>
                <a:lnTo>
                  <a:pt x="3772662" y="4956521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5370413" y="-445426"/>
            <a:ext cx="7128693" cy="7128693"/>
          </a:xfrm>
          <a:custGeom>
            <a:avLst/>
            <a:gdLst/>
            <a:ahLst/>
            <a:cxnLst/>
            <a:rect r="r" b="b" t="t" l="l"/>
            <a:pathLst>
              <a:path h="7128693" w="7128693">
                <a:moveTo>
                  <a:pt x="7128693" y="0"/>
                </a:moveTo>
                <a:lnTo>
                  <a:pt x="0" y="0"/>
                </a:lnTo>
                <a:lnTo>
                  <a:pt x="0" y="7128693"/>
                </a:lnTo>
                <a:lnTo>
                  <a:pt x="7128693" y="7128693"/>
                </a:lnTo>
                <a:lnTo>
                  <a:pt x="71286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5551448" y="6691720"/>
            <a:ext cx="2736552" cy="3595280"/>
          </a:xfrm>
          <a:custGeom>
            <a:avLst/>
            <a:gdLst/>
            <a:ahLst/>
            <a:cxnLst/>
            <a:rect r="r" b="b" t="t" l="l"/>
            <a:pathLst>
              <a:path h="3595280" w="2736552">
                <a:moveTo>
                  <a:pt x="2736552" y="0"/>
                </a:moveTo>
                <a:lnTo>
                  <a:pt x="0" y="0"/>
                </a:lnTo>
                <a:lnTo>
                  <a:pt x="0" y="3595280"/>
                </a:lnTo>
                <a:lnTo>
                  <a:pt x="2736552" y="3595280"/>
                </a:lnTo>
                <a:lnTo>
                  <a:pt x="273655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89633" y="1448406"/>
            <a:ext cx="13074553" cy="2134133"/>
            <a:chOff x="0" y="0"/>
            <a:chExt cx="17432738" cy="284551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2526471" y="-285750"/>
              <a:ext cx="11625369" cy="1776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296"/>
                </a:lnSpc>
                <a:spcBef>
                  <a:spcPct val="0"/>
                </a:spcBef>
              </a:pPr>
              <a:r>
                <a:rPr lang="en-US" b="true" sz="7354">
                  <a:solidFill>
                    <a:srgbClr val="D7FDFF"/>
                  </a:solidFill>
                  <a:latin typeface="Alegreya Sans SC Bold"/>
                  <a:ea typeface="Alegreya Sans SC Bold"/>
                  <a:cs typeface="Alegreya Sans SC Bold"/>
                  <a:sym typeface="Alegreya Sans SC Bold"/>
                </a:rPr>
                <a:t>Our Solutions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32457"/>
              <a:ext cx="17432738" cy="1413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8">
                  <a:solidFill>
                    <a:srgbClr val="D7FDFF"/>
                  </a:solidFill>
                  <a:latin typeface="Alegreya Sans SC Bold"/>
                  <a:ea typeface="Alegreya Sans SC Bold"/>
                  <a:cs typeface="Alegreya Sans SC Bold"/>
                  <a:sym typeface="Alegreya Sans SC Bold"/>
                </a:rPr>
                <a:t>Designed f</a:t>
              </a:r>
              <a:r>
                <a:rPr lang="en-US" b="true" sz="2998">
                  <a:solidFill>
                    <a:srgbClr val="D7FDFF"/>
                  </a:solidFill>
                  <a:latin typeface="Alegreya Sans SC Bold"/>
                  <a:ea typeface="Alegreya Sans SC Bold"/>
                  <a:cs typeface="Alegreya Sans SC Bold"/>
                  <a:sym typeface="Alegreya Sans SC Bold"/>
                </a:rPr>
                <a:t>or global entrepreneurs to launch in UAE without friction</a:t>
              </a:r>
            </a:p>
            <a:p>
              <a:pPr algn="ctr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8">
                  <a:solidFill>
                    <a:srgbClr val="D7FDFF"/>
                  </a:solidFill>
                  <a:latin typeface="Alegreya Sans SC Bold"/>
                  <a:ea typeface="Alegreya Sans SC Bold"/>
                  <a:cs typeface="Alegreya Sans SC Bold"/>
                  <a:sym typeface="Alegreya Sans SC Bold"/>
                </a:rPr>
                <a:t> 🔎 Unique in blending AI, local compliance, and user-centric onboarding flows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6437" y="3461470"/>
            <a:ext cx="16251563" cy="491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4639" indent="-432320" lvl="1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Step-by-step onboarding flow (Free Zone &amp; Mainland)</a:t>
            </a:r>
          </a:p>
          <a:p>
            <a:pPr algn="l" marL="864639" indent="-432320" lvl="1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Industry and business activity selection</a:t>
            </a:r>
          </a:p>
          <a:p>
            <a:pPr algn="l" marL="864639" indent="-432320" lvl="1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Intelligent zone recommendation engine</a:t>
            </a:r>
          </a:p>
          <a:p>
            <a:pPr algn="l" marL="864639" indent="-432320" lvl="1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AI-powered chatbot available on every screen</a:t>
            </a:r>
          </a:p>
          <a:p>
            <a:pPr algn="l" marL="864639" indent="-432320" lvl="1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Dynamic data fetching via Supabase</a:t>
            </a:r>
          </a:p>
          <a:p>
            <a:pPr algn="l" marL="864639" indent="-432320" lvl="1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Clean, responsive UI</a:t>
            </a:r>
          </a:p>
          <a:p>
            <a:pPr algn="l">
              <a:lnSpc>
                <a:spcPts val="5606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32925" y="1623415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Core Features</a:t>
            </a:r>
          </a:p>
        </p:txBody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22889" y="0"/>
            <a:ext cx="2567706" cy="3373451"/>
          </a:xfrm>
          <a:custGeom>
            <a:avLst/>
            <a:gdLst/>
            <a:ahLst/>
            <a:cxnLst/>
            <a:rect r="r" b="b" t="t" l="l"/>
            <a:pathLst>
              <a:path h="3373451" w="2567706">
                <a:moveTo>
                  <a:pt x="0" y="3373451"/>
                </a:moveTo>
                <a:lnTo>
                  <a:pt x="2567706" y="3373451"/>
                </a:lnTo>
                <a:lnTo>
                  <a:pt x="2567706" y="0"/>
                </a:lnTo>
                <a:lnTo>
                  <a:pt x="0" y="0"/>
                </a:lnTo>
                <a:lnTo>
                  <a:pt x="0" y="337345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414140" y="-387411"/>
            <a:ext cx="3274057" cy="4301455"/>
          </a:xfrm>
          <a:custGeom>
            <a:avLst/>
            <a:gdLst/>
            <a:ahLst/>
            <a:cxnLst/>
            <a:rect r="r" b="b" t="t" l="l"/>
            <a:pathLst>
              <a:path h="4301455" w="3274057">
                <a:moveTo>
                  <a:pt x="3274058" y="0"/>
                </a:moveTo>
                <a:lnTo>
                  <a:pt x="0" y="0"/>
                </a:lnTo>
                <a:lnTo>
                  <a:pt x="0" y="4301456"/>
                </a:lnTo>
                <a:lnTo>
                  <a:pt x="3274058" y="4301456"/>
                </a:lnTo>
                <a:lnTo>
                  <a:pt x="32740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4786756" y="7403374"/>
            <a:ext cx="2582789" cy="3393268"/>
          </a:xfrm>
          <a:custGeom>
            <a:avLst/>
            <a:gdLst/>
            <a:ahLst/>
            <a:cxnLst/>
            <a:rect r="r" b="b" t="t" l="l"/>
            <a:pathLst>
              <a:path h="3393268" w="2582789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6078150" y="6216062"/>
            <a:ext cx="3293290" cy="4326723"/>
          </a:xfrm>
          <a:custGeom>
            <a:avLst/>
            <a:gdLst/>
            <a:ahLst/>
            <a:cxnLst/>
            <a:rect r="r" b="b" t="t" l="l"/>
            <a:pathLst>
              <a:path h="4326723" w="3293290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0" y="7331903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15390121" y="1822870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14542725" y="656634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77579" y="3075724"/>
            <a:ext cx="13552320" cy="443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9871" indent="-399935" lvl="1">
              <a:lnSpc>
                <a:spcPts val="9039"/>
              </a:lnSpc>
              <a:buFont typeface="Arial"/>
              <a:buChar char="•"/>
            </a:pPr>
            <a:r>
              <a:rPr lang="en-US" sz="37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Uses Gemini 2.0 Flash + RAG for real-time guidance</a:t>
            </a:r>
          </a:p>
          <a:p>
            <a:pPr algn="just" marL="799871" indent="-399935" lvl="1">
              <a:lnSpc>
                <a:spcPts val="9039"/>
              </a:lnSpc>
              <a:buFont typeface="Arial"/>
              <a:buChar char="•"/>
            </a:pPr>
            <a:r>
              <a:rPr lang="en-US" sz="37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Trained on UAE legal and incorporation data</a:t>
            </a:r>
          </a:p>
          <a:p>
            <a:pPr algn="just" marL="799871" indent="-399935" lvl="1">
              <a:lnSpc>
                <a:spcPts val="9039"/>
              </a:lnSpc>
              <a:buFont typeface="Arial"/>
              <a:buChar char="•"/>
            </a:pPr>
            <a:r>
              <a:rPr lang="en-US" sz="37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Handles FAQs, document clarification, and zone guidance</a:t>
            </a:r>
          </a:p>
          <a:p>
            <a:pPr algn="just" marL="799871" indent="-399935" lvl="1">
              <a:lnSpc>
                <a:spcPts val="9039"/>
              </a:lnSpc>
              <a:buFont typeface="Arial"/>
              <a:buChar char="•"/>
            </a:pPr>
            <a:r>
              <a:rPr lang="en-US" sz="37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Always available as a floating widget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73815" y="1369505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Chatbot Integration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676795"/>
            <a:ext cx="16230600" cy="703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Authentication (email/password based)</a:t>
            </a:r>
          </a:p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Secure user onboarding data storage</a:t>
            </a:r>
          </a:p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Tables for:</a:t>
            </a:r>
          </a:p>
          <a:p>
            <a:pPr algn="just" marL="1727202" indent="-575734" lvl="2">
              <a:lnSpc>
                <a:spcPts val="5600"/>
              </a:lnSpc>
              <a:buFont typeface="Arial"/>
              <a:buChar char="⚬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Industries</a:t>
            </a:r>
          </a:p>
          <a:p>
            <a:pPr algn="just" marL="1727202" indent="-575734" lvl="2">
              <a:lnSpc>
                <a:spcPts val="5600"/>
              </a:lnSpc>
              <a:buFont typeface="Arial"/>
              <a:buChar char="⚬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Activities</a:t>
            </a:r>
          </a:p>
          <a:p>
            <a:pPr algn="just" marL="1727202" indent="-575734" lvl="2">
              <a:lnSpc>
                <a:spcPts val="5600"/>
              </a:lnSpc>
              <a:buFont typeface="Arial"/>
              <a:buChar char="⚬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Freez</a:t>
            </a: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ones</a:t>
            </a:r>
          </a:p>
          <a:p>
            <a:pPr algn="just" marL="1727202" indent="-575734" lvl="2">
              <a:lnSpc>
                <a:spcPts val="5600"/>
              </a:lnSpc>
              <a:buFont typeface="Arial"/>
              <a:buChar char="⚬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Admins</a:t>
            </a:r>
          </a:p>
          <a:p>
            <a:pPr algn="just" marL="1727202" indent="-575734" lvl="2">
              <a:lnSpc>
                <a:spcPts val="5600"/>
              </a:lnSpc>
              <a:buFont typeface="Arial"/>
              <a:buChar char="⚬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Documents</a:t>
            </a:r>
          </a:p>
          <a:p>
            <a:pPr algn="just" marL="1727202" indent="-575734" lvl="2">
              <a:lnSpc>
                <a:spcPts val="5600"/>
              </a:lnSpc>
              <a:spcBef>
                <a:spcPct val="0"/>
              </a:spcBef>
              <a:buFont typeface="Arial"/>
              <a:buChar char="⚬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Shareholders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785327" y="876421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Supabase Backend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5548065" y="6970644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5372969" y="5781025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3209211" y="1721233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028700" y="210270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857631" y="-364188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960838" y="2114073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767315" y="-135036"/>
            <a:ext cx="3274057" cy="4301455"/>
          </a:xfrm>
          <a:custGeom>
            <a:avLst/>
            <a:gdLst/>
            <a:ahLst/>
            <a:cxnLst/>
            <a:rect r="r" b="b" t="t" l="l"/>
            <a:pathLst>
              <a:path h="4301455" w="3274057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42866" y="1023090"/>
            <a:ext cx="10002269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Learning &amp; Challenges</a:t>
            </a:r>
          </a:p>
        </p:txBody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5113" y="2928891"/>
            <a:ext cx="13876999" cy="306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7155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Lack of real-world onboarding data: Most business setup sites only offer “Book a Meeting” buttons — no transparent flows</a:t>
            </a:r>
          </a:p>
          <a:p>
            <a:pPr algn="just" marL="627155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No centralized data source: Industry codes, legal structures, and zone eligibility needed to be manually compiled</a:t>
            </a:r>
          </a:p>
          <a:p>
            <a:pPr algn="just" marL="627155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Getting context-aware responses from the bot</a:t>
            </a:r>
          </a:p>
          <a:p>
            <a:pPr algn="just">
              <a:lnSpc>
                <a:spcPts val="4066"/>
              </a:lnSpc>
            </a:pPr>
          </a:p>
        </p:txBody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22889" y="-387411"/>
            <a:ext cx="2567706" cy="3373451"/>
          </a:xfrm>
          <a:custGeom>
            <a:avLst/>
            <a:gdLst/>
            <a:ahLst/>
            <a:cxnLst/>
            <a:rect r="r" b="b" t="t" l="l"/>
            <a:pathLst>
              <a:path h="3373451" w="2567706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4786756" y="7403374"/>
            <a:ext cx="2582789" cy="3393268"/>
          </a:xfrm>
          <a:custGeom>
            <a:avLst/>
            <a:gdLst/>
            <a:ahLst/>
            <a:cxnLst/>
            <a:rect r="r" b="b" t="t" l="l"/>
            <a:pathLst>
              <a:path h="3393268" w="2582789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6078150" y="6216062"/>
            <a:ext cx="3293290" cy="4326723"/>
          </a:xfrm>
          <a:custGeom>
            <a:avLst/>
            <a:gdLst/>
            <a:ahLst/>
            <a:cxnLst/>
            <a:rect r="r" b="b" t="t" l="l"/>
            <a:pathLst>
              <a:path h="4326723" w="3293290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35113" y="5602872"/>
            <a:ext cx="13502179" cy="554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6"/>
              </a:lnSpc>
              <a:spcBef>
                <a:spcPct val="0"/>
              </a:spcBef>
            </a:pPr>
            <a:r>
              <a:rPr lang="en-US" b="true" sz="42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Our learning includes:</a:t>
            </a:r>
          </a:p>
          <a:p>
            <a:pPr algn="l" marL="724239" indent="-362119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Gained experience in AI chatbot integration using RAG</a:t>
            </a:r>
          </a:p>
          <a:p>
            <a:pPr algn="l" marL="724239" indent="-362119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Gained hands-on experience building a full-stack React application from scratch</a:t>
            </a:r>
          </a:p>
          <a:p>
            <a:pPr algn="l" marL="724239" indent="-362119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Developed research skills to compile legal structures, industry categories, and jurisdiction rules</a:t>
            </a:r>
          </a:p>
          <a:p>
            <a:pPr algn="l">
              <a:lnSpc>
                <a:spcPts val="4696"/>
              </a:lnSpc>
            </a:pPr>
          </a:p>
          <a:p>
            <a:pPr algn="l">
              <a:lnSpc>
                <a:spcPts val="4696"/>
              </a:lnSpc>
            </a:pPr>
          </a:p>
          <a:p>
            <a:pPr algn="l">
              <a:lnSpc>
                <a:spcPts val="469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59945"/>
            <a:ext cx="16230600" cy="703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D7FD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Sher Ali:</a:t>
            </a:r>
          </a:p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Worked on Chatbot and Database Schema</a:t>
            </a:r>
          </a:p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D7FD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Hussain Umer:</a:t>
            </a:r>
          </a:p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Worked on Chatbot research alongside Sher Ali and completed frontend+backend integration of Freezone category</a:t>
            </a:r>
          </a:p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D7FD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Wasiq Shaikh:</a:t>
            </a:r>
          </a:p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Worked on Mainland and Offshore Category basic user flow</a:t>
            </a:r>
          </a:p>
          <a:p>
            <a:pPr algn="l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Auth Login and Signup setup</a:t>
            </a:r>
          </a:p>
          <a:p>
            <a:pPr algn="l" marL="863601" indent="-431801" lvl="1">
              <a:lnSpc>
                <a:spcPts val="56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worked alonside Sher in setting up and populating Database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784487" y="1269262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Work Distribution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5548065" y="6970644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5372969" y="5781025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3209211" y="1721233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028700" y="210270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857631" y="-364188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960838" y="2114073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476399" y="2173146"/>
            <a:ext cx="5249238" cy="6896447"/>
          </a:xfrm>
          <a:custGeom>
            <a:avLst/>
            <a:gdLst/>
            <a:ahLst/>
            <a:cxnLst/>
            <a:rect r="r" b="b" t="t" l="l"/>
            <a:pathLst>
              <a:path h="6896447" w="5249238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-10800000">
            <a:off x="-286818" y="1217407"/>
            <a:ext cx="5208407" cy="6842803"/>
          </a:xfrm>
          <a:custGeom>
            <a:avLst/>
            <a:gdLst/>
            <a:ahLst/>
            <a:cxnLst/>
            <a:rect r="r" b="b" t="t" l="l"/>
            <a:pathLst>
              <a:path h="6842803" w="5208407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4921589" y="3557484"/>
            <a:ext cx="13366411" cy="3043429"/>
          </a:xfrm>
          <a:custGeom>
            <a:avLst/>
            <a:gdLst/>
            <a:ahLst/>
            <a:cxnLst/>
            <a:rect r="r" b="b" t="t" l="l"/>
            <a:pathLst>
              <a:path h="3043429" w="13366411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780228" y="-659099"/>
            <a:ext cx="11605199" cy="11605199"/>
          </a:xfrm>
          <a:custGeom>
            <a:avLst/>
            <a:gdLst/>
            <a:ahLst/>
            <a:cxnLst/>
            <a:rect r="r" b="b" t="t" l="l"/>
            <a:pathLst>
              <a:path h="11605199" w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15970" y="4223324"/>
            <a:ext cx="7464258" cy="182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DAGs85ejSq8</dc:identifier>
  <dcterms:modified xsi:type="dcterms:W3CDTF">2011-08-01T06:04:30Z</dcterms:modified>
  <cp:revision>1</cp:revision>
  <dc:title>Tosca Black Gradient Abstract Project Presentation </dc:title>
</cp:coreProperties>
</file>